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3A82F9-CBF2-406D-941B-E03770D1F616}" v="9" dt="2026-07-15T00:24:29.7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risha siri" userId="8cbf085a7ce31d86" providerId="LiveId" clId="{87B3E862-E3C9-4B0D-B48B-0D877FFFEA66}"/>
    <pc:docChg chg="modSld">
      <pc:chgData name="shirisha siri" userId="8cbf085a7ce31d86" providerId="LiveId" clId="{87B3E862-E3C9-4B0D-B48B-0D877FFFEA66}" dt="2026-07-15T00:24:16.592" v="37" actId="1076"/>
      <pc:docMkLst>
        <pc:docMk/>
      </pc:docMkLst>
      <pc:sldChg chg="addSp modSp mod">
        <pc:chgData name="shirisha siri" userId="8cbf085a7ce31d86" providerId="LiveId" clId="{87B3E862-E3C9-4B0D-B48B-0D877FFFEA66}" dt="2026-07-15T00:21:34.529" v="5"/>
        <pc:sldMkLst>
          <pc:docMk/>
          <pc:sldMk cId="0" sldId="256"/>
        </pc:sldMkLst>
        <pc:spChg chg="add mod">
          <ac:chgData name="shirisha siri" userId="8cbf085a7ce31d86" providerId="LiveId" clId="{87B3E862-E3C9-4B0D-B48B-0D877FFFEA66}" dt="2026-07-15T00:21:34.529" v="5"/>
          <ac:spMkLst>
            <pc:docMk/>
            <pc:sldMk cId="0" sldId="256"/>
            <ac:spMk id="7" creationId="{0DF44E48-7195-739D-CA86-A99E012BC51B}"/>
          </ac:spMkLst>
        </pc:spChg>
      </pc:sldChg>
      <pc:sldChg chg="modSp mod">
        <pc:chgData name="shirisha siri" userId="8cbf085a7ce31d86" providerId="LiveId" clId="{87B3E862-E3C9-4B0D-B48B-0D877FFFEA66}" dt="2026-07-15T00:24:16.592" v="37" actId="1076"/>
        <pc:sldMkLst>
          <pc:docMk/>
          <pc:sldMk cId="0" sldId="260"/>
        </pc:sldMkLst>
        <pc:spChg chg="mod">
          <ac:chgData name="shirisha siri" userId="8cbf085a7ce31d86" providerId="LiveId" clId="{87B3E862-E3C9-4B0D-B48B-0D877FFFEA66}" dt="2026-07-15T00:24:16.592" v="37" actId="1076"/>
          <ac:spMkLst>
            <pc:docMk/>
            <pc:sldMk cId="0" sldId="260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jakshirisha/Final-Project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.mendeley.com/datasets/5tv4bmrrf8/2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D7A8C"/>
                </a:solidFill>
                <a:latin typeface="Calibri"/>
              </a:rPr>
              <a:t>UNIVERSITY OF HERTFORDSHIRE  • 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FFFFFF"/>
                </a:solidFill>
                <a:latin typeface="Calibri"/>
              </a:rPr>
              <a:t>Effect of Digital Currency on Finance and Accounting:
Challenges Associated with Taxation and Legislation in the 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40680"/>
            <a:ext cx="10515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b="0" dirty="0">
                <a:solidFill>
                  <a:srgbClr val="FFFFFF"/>
                </a:solidFill>
                <a:latin typeface="Calibri"/>
              </a:rPr>
              <a:t>Student Name : Shirisha </a:t>
            </a:r>
            <a:r>
              <a:rPr lang="en-GB" b="0" dirty="0" err="1">
                <a:solidFill>
                  <a:srgbClr val="FFFFFF"/>
                </a:solidFill>
                <a:latin typeface="Calibri"/>
              </a:rPr>
              <a:t>Jakkula</a:t>
            </a:r>
            <a:endParaRPr lang="en-GB" b="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lang="en-GB" dirty="0">
                <a:solidFill>
                  <a:srgbClr val="FFFFFF"/>
                </a:solidFill>
                <a:latin typeface="Calibri"/>
              </a:rPr>
              <a:t>Student ID        : 23096388</a:t>
            </a:r>
            <a:endParaRPr b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F44E48-7195-739D-CA86-A99E012BC51B}"/>
              </a:ext>
            </a:extLst>
          </p:cNvPr>
          <p:cNvSpPr txBox="1"/>
          <p:nvPr/>
        </p:nvSpPr>
        <p:spPr>
          <a:xfrm>
            <a:off x="582168" y="3338006"/>
            <a:ext cx="10515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rgbClr val="FFFFFF"/>
                </a:solidFill>
                <a:hlinkClick r:id="rId2"/>
              </a:rPr>
              <a:t>https://github.com/jakshirisha/Final-Project</a:t>
            </a:r>
            <a:endParaRPr b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Presentation Structure (Rubric Matrix)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5577840" cy="6858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1. Research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74520"/>
            <a:ext cx="5577840" cy="6858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2. Background — prior work on this topic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5577840" cy="6858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880360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3. Dataset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520440"/>
            <a:ext cx="5577840" cy="6858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3703320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4. Ethical soundness of the 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43400"/>
            <a:ext cx="5577840" cy="6858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526280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5. EDA plots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166360"/>
            <a:ext cx="5577840" cy="6858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5349240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6. Data pre-processing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051560"/>
            <a:ext cx="5577840" cy="6858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1234440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7. Model used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874520"/>
            <a:ext cx="5577840" cy="6858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2057400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8. Results of model implementation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697480"/>
            <a:ext cx="5577840" cy="6858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2880360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9. Hyperparameter tuning / parameter optimisation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3520440"/>
            <a:ext cx="5577840" cy="6858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3703320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10. Interpretation of results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343400"/>
            <a:ext cx="5577840" cy="6858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4526280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11. Summary &amp; conclusions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5166360"/>
            <a:ext cx="5577840" cy="6858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5349240"/>
            <a:ext cx="5120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12.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7A8C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Research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47120" cy="1828800"/>
          </a:xfrm>
          <a:prstGeom prst="roundRect">
            <a:avLst/>
          </a:prstGeom>
          <a:solidFill>
            <a:srgbClr val="E6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7A8C"/>
                </a:solidFill>
                <a:latin typeface="Calibri"/>
              </a:rPr>
              <a:t>Main research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9164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How does digital currency affect finance and accounting practices in the UK, and what challenges are associated with taxation and legislation for cryptocurrencies and digital assets?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11247120" cy="621792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36499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7A8C"/>
                </a:solidFill>
                <a:latin typeface="Calibri"/>
              </a:rPr>
              <a:t>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364992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How do digital currencies influence UK finance and accounting practice?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11247120" cy="621792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09651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7A8C"/>
                </a:solidFill>
                <a:latin typeface="Calibri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096512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What taxation challenges are associated with cryptoassets in the UK?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63440"/>
            <a:ext cx="11247120" cy="621792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8280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7A8C"/>
                </a:solidFill>
                <a:latin typeface="Calibri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828032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What are the major legislative and regulatory issues?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394960"/>
            <a:ext cx="11247120" cy="621792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5595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7A8C"/>
                </a:solidFill>
                <a:latin typeface="Calibri"/>
              </a:rPr>
              <a:t>Q4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559552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What risks and opportunities does adoption create for the sector?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B1F3A"/>
                </a:solidFill>
                <a:latin typeface="Calibri"/>
              </a:rPr>
              <a:t>Background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1480" y="1097280"/>
            <a:ext cx="3703320" cy="50292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Accounting literature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383280" cy="215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0">
                <a:solidFill>
                  <a:srgbClr val="1A1A1A"/>
                </a:solidFill>
                <a:latin typeface="Calibri"/>
              </a:rPr>
              <a:t>•  Luo &amp; Yu (2024): inconsistent GAAP/IFRS crypto reporting.</a:t>
            </a:r>
          </a:p>
          <a:p>
            <a:pPr>
              <a:spcBef>
                <a:spcPts val="500"/>
              </a:spcBef>
            </a:pPr>
            <a:r>
              <a:rPr b="0">
                <a:solidFill>
                  <a:srgbClr val="1A1A1A"/>
                </a:solidFill>
                <a:latin typeface="Calibri"/>
              </a:rPr>
              <a:t>•  Parrondo (2023): payment tokens → IAS 38; security tokens → IFRS 9.</a:t>
            </a:r>
          </a:p>
          <a:p>
            <a:pPr>
              <a:spcBef>
                <a:spcPts val="500"/>
              </a:spcBef>
            </a:pPr>
            <a:r>
              <a:rPr b="0">
                <a:solidFill>
                  <a:srgbClr val="1A1A1A"/>
                </a:solidFill>
                <a:latin typeface="Calibri"/>
              </a:rPr>
              <a:t>•  Lazea et al. (2024): no universal IFRS classification; audit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097280"/>
            <a:ext cx="3703320" cy="5029200"/>
          </a:xfrm>
          <a:prstGeom prst="roundRect">
            <a:avLst/>
          </a:prstGeom>
          <a:solidFill>
            <a:srgbClr val="E6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1234440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Taxation literature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600200"/>
            <a:ext cx="3383280" cy="2159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0">
                <a:solidFill>
                  <a:srgbClr val="1A1A1A"/>
                </a:solidFill>
                <a:latin typeface="Calibri"/>
              </a:rPr>
              <a:t>•  Baer et al. (2023): pseudonymity blocks enforcement.</a:t>
            </a:r>
          </a:p>
          <a:p>
            <a:pPr>
              <a:spcBef>
                <a:spcPts val="500"/>
              </a:spcBef>
            </a:pPr>
            <a:r>
              <a:rPr b="0">
                <a:solidFill>
                  <a:srgbClr val="1A1A1A"/>
                </a:solidFill>
                <a:latin typeface="Calibri"/>
              </a:rPr>
              <a:t>•  Bhullar et al. (2025): cross-country tax gaps drive evasion.</a:t>
            </a:r>
          </a:p>
          <a:p>
            <a:pPr>
              <a:spcBef>
                <a:spcPts val="500"/>
              </a:spcBef>
            </a:pPr>
            <a:r>
              <a:rPr b="0">
                <a:solidFill>
                  <a:srgbClr val="1A1A1A"/>
                </a:solidFill>
                <a:latin typeface="Calibri"/>
              </a:rPr>
              <a:t>•  Kicova et al. (2025): DeFi and taxable-event complexity.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097280"/>
            <a:ext cx="3703320" cy="50292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234440"/>
            <a:ext cx="338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UK regulatory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600200"/>
            <a:ext cx="3383280" cy="250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0">
                <a:solidFill>
                  <a:srgbClr val="1A1A1A"/>
                </a:solidFill>
                <a:latin typeface="Calibri"/>
              </a:rPr>
              <a:t>•  HMRC: crypto = property; CGT / Income Tax apply.</a:t>
            </a:r>
          </a:p>
          <a:p>
            <a:pPr>
              <a:spcBef>
                <a:spcPts val="500"/>
              </a:spcBef>
            </a:pPr>
            <a:r>
              <a:rPr b="0">
                <a:solidFill>
                  <a:srgbClr val="1A1A1A"/>
                </a:solidFill>
                <a:latin typeface="Calibri"/>
              </a:rPr>
              <a:t>•  CGT exemption cut to £3,000 (2024/25).</a:t>
            </a:r>
          </a:p>
          <a:p>
            <a:pPr>
              <a:spcBef>
                <a:spcPts val="500"/>
              </a:spcBef>
            </a:pPr>
            <a:r>
              <a:rPr b="0">
                <a:solidFill>
                  <a:srgbClr val="1A1A1A"/>
                </a:solidFill>
                <a:latin typeface="Calibri"/>
              </a:rPr>
              <a:t>•  FSMA 2023 brought crypto into the UK perimeter.</a:t>
            </a:r>
          </a:p>
          <a:p>
            <a:pPr>
              <a:spcBef>
                <a:spcPts val="500"/>
              </a:spcBef>
            </a:pPr>
            <a:r>
              <a:rPr b="0">
                <a:solidFill>
                  <a:srgbClr val="1A1A1A"/>
                </a:solidFill>
                <a:latin typeface="Calibri"/>
              </a:rPr>
              <a:t>•  Gaps remain for DeFi, stablecoins, cross-border tax.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7A8C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What Is Your Dataset?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719465"/>
            <a:ext cx="10972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5A6A7A"/>
                </a:solidFill>
                <a:latin typeface="Calibri"/>
              </a:rPr>
              <a:t>Mendeley Cryptocurrency Historical Dataset (</a:t>
            </a:r>
            <a:r>
              <a:rPr sz="1600" b="1" dirty="0" err="1">
                <a:solidFill>
                  <a:srgbClr val="5A6A7A"/>
                </a:solidFill>
                <a:latin typeface="Calibri"/>
              </a:rPr>
              <a:t>Mahapatro</a:t>
            </a:r>
            <a:r>
              <a:rPr sz="1600" b="1" dirty="0">
                <a:solidFill>
                  <a:srgbClr val="5A6A7A"/>
                </a:solidFill>
                <a:latin typeface="Calibri"/>
              </a:rPr>
              <a:t>, 2025)  •  CC BY 4.0  •  </a:t>
            </a:r>
            <a:r>
              <a:rPr lang="en-GB" sz="1600" b="1" dirty="0">
                <a:solidFill>
                  <a:srgbClr val="5A6A7A"/>
                </a:solidFill>
                <a:hlinkClick r:id="rId2"/>
              </a:rPr>
              <a:t>https://data.mendeley.com/datasets/5tv4bmrrf8/2</a:t>
            </a:r>
            <a:endParaRPr lang="en-GB" sz="1600" b="1" dirty="0">
              <a:solidFill>
                <a:srgbClr val="5A6A7A"/>
              </a:solidFill>
              <a:latin typeface="Calibri"/>
            </a:endParaRPr>
          </a:p>
          <a:p>
            <a:pPr algn="l"/>
            <a:endParaRPr sz="1600" b="1" dirty="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56032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4630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371600"/>
            <a:ext cx="137160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90672" y="14630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371600"/>
            <a:ext cx="146304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2272" y="14630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Columns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1371600"/>
            <a:ext cx="201168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25312" y="1463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After cleaning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1371600"/>
            <a:ext cx="3200400" cy="4572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36992" y="14630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Date range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828800"/>
            <a:ext cx="2560320" cy="4572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BITCOIN24.csv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1828800"/>
            <a:ext cx="1371600" cy="4572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90672" y="1920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2,250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1828800"/>
            <a:ext cx="1463040" cy="4572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62272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0" y="1828800"/>
            <a:ext cx="2011680" cy="4572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25312" y="1920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2,250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1828800"/>
            <a:ext cx="3200400" cy="4572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36992" y="19202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Jan 2018 – Feb 2024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0352" y="23774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ETHEREUM.csv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17520" y="2286000"/>
            <a:ext cx="1371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090672" y="23774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2,404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228600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462272" y="2377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228600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25312" y="23774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2,391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0" y="2286000"/>
            <a:ext cx="32004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36992" y="2377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Jan 2018 – Jul 2024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743200"/>
            <a:ext cx="2560320" cy="4572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30352" y="2834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LITECOIN24.csv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2743200"/>
            <a:ext cx="1371600" cy="4572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90672" y="2834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2,404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2743200"/>
            <a:ext cx="1463040" cy="4572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62272" y="2834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852160" y="2743200"/>
            <a:ext cx="2011680" cy="4572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925312" y="28346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2,404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63840" y="2743200"/>
            <a:ext cx="3200400" cy="457200"/>
          </a:xfrm>
          <a:prstGeom prst="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936992" y="2834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Jan 2018 – Jul 2024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3657600"/>
            <a:ext cx="2743200" cy="2377440"/>
          </a:xfrm>
          <a:prstGeom prst="roundRect">
            <a:avLst/>
          </a:prstGeom>
          <a:solidFill>
            <a:srgbClr val="E6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" y="3931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A7A"/>
                </a:solidFill>
                <a:latin typeface="Calibri"/>
              </a:rPr>
              <a:t>Total raw rows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4480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7,058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383280" y="3657600"/>
            <a:ext cx="2743200" cy="237744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566160" y="3931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A7A"/>
                </a:solidFill>
                <a:latin typeface="Calibri"/>
              </a:rPr>
              <a:t>Columns each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66160" y="4480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7 (OHLCV)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09360" y="3657600"/>
            <a:ext cx="2743200" cy="2377440"/>
          </a:xfrm>
          <a:prstGeom prst="roundRect">
            <a:avLst/>
          </a:prstGeom>
          <a:solidFill>
            <a:srgbClr val="E6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92240" y="3931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A7A"/>
                </a:solidFill>
                <a:latin typeface="Calibri"/>
              </a:rPr>
              <a:t>Overlap days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4480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2,250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35440" y="3657600"/>
            <a:ext cx="2743200" cy="237744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418320" y="39319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A7A"/>
                </a:solidFill>
                <a:latin typeface="Calibri"/>
              </a:rPr>
              <a:t>Assets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18320" y="448056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BTC • ETH • LTC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How Is the Dataset Ethically Sound?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1480" y="1143000"/>
            <a:ext cx="3703320" cy="219456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No personal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20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Market-level OHLCV only — no names, wallets, or individual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143000"/>
            <a:ext cx="3703320" cy="219456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No human subjects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011680"/>
            <a:ext cx="3200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No surveys or interviews; UK GDPR not engaged for this dataset.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143000"/>
            <a:ext cx="3703320" cy="219456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Open licence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11680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CC BY 4.0 permits documented academic reuse without fee.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611880"/>
            <a:ext cx="3703320" cy="219456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Public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80560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Aggregated exchange data via Elsevier/Mendeley repository.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611880"/>
            <a:ext cx="3703320" cy="219456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628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No consent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480560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No identifiable participants → no UH ethics approval required.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80" y="3611880"/>
            <a:ext cx="3703320" cy="219456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Transparent 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480560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DOI cited; analysis limited to academic research aims.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5. Show EDA Plots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D7A8C"/>
                </a:solidFill>
                <a:latin typeface="Calibri"/>
              </a:rPr>
              <a:t>Exploratory Data Analysis from Bitcoin, Ethereum and Litecoin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7A8C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EDA Plot — Closing Price Trends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83680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UH Project Presentation  |  Rubric Matrix  |  10–12 minutes</a:t>
            </a:r>
          </a:p>
        </p:txBody>
      </p:sp>
      <p:pic>
        <p:nvPicPr>
          <p:cNvPr id="8" name="Picture 7" descr="rubric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14400"/>
            <a:ext cx="7406640" cy="40865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863840" y="1051560"/>
            <a:ext cx="3931920" cy="5029200"/>
          </a:xfrm>
          <a:prstGeom prst="roundRect">
            <a:avLst/>
          </a:prstGeom>
          <a:solidFill>
            <a:srgbClr val="E6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0" y="1188720"/>
            <a:ext cx="36118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0B1F3A"/>
                </a:solidFill>
                <a:latin typeface="Calibri"/>
              </a:rPr>
              <a:t>What this shows</a:t>
            </a:r>
            <a:r>
              <a:rPr lang="en-GB" sz="2000" b="1" dirty="0">
                <a:solidFill>
                  <a:srgbClr val="0B1F3A"/>
                </a:solidFill>
                <a:latin typeface="Calibri"/>
              </a:rPr>
              <a:t> ?</a:t>
            </a:r>
            <a:endParaRPr sz="2000" b="1" dirty="0">
              <a:solidFill>
                <a:srgbClr val="0B1F3A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46720" y="1554480"/>
            <a:ext cx="3611880" cy="2905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•  All three assets show large boom–bust cycles.</a:t>
            </a:r>
          </a:p>
          <a:p>
            <a:pPr>
              <a:spcBef>
                <a:spcPts val="5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•  Bitcoin ranged ~$3.2k to ~$67.5k.</a:t>
            </a:r>
          </a:p>
          <a:p>
            <a:pPr>
              <a:spcBef>
                <a:spcPts val="5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•  2021 peak and 2022 crash are clear.</a:t>
            </a:r>
          </a:p>
          <a:p>
            <a:pPr>
              <a:spcBef>
                <a:spcPts val="500"/>
              </a:spcBef>
            </a:pPr>
            <a:endParaRPr b="0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5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•  EDA insight:</a:t>
            </a:r>
          </a:p>
          <a:p>
            <a:pPr>
              <a:spcBef>
                <a:spcPts val="5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•  Extreme price paths create fair-value and CGT difficulty.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7A8C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EDA Plot — Correlation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ubric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5943600" cy="483046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66560" y="1097280"/>
            <a:ext cx="4937760" cy="4937760"/>
          </a:xfrm>
          <a:prstGeom prst="roundRect">
            <a:avLst/>
          </a:prstGeom>
          <a:solidFill>
            <a:srgbClr val="E6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0" y="1234440"/>
            <a:ext cx="4617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B1F3A"/>
                </a:solidFill>
                <a:latin typeface="Calibri"/>
              </a:rPr>
              <a:t>What this </a:t>
            </a:r>
            <a:r>
              <a:rPr lang="en-GB" b="1" dirty="0">
                <a:solidFill>
                  <a:srgbClr val="0B1F3A"/>
                </a:solidFill>
                <a:latin typeface="Calibri"/>
              </a:rPr>
              <a:t>Graph </a:t>
            </a:r>
            <a:r>
              <a:rPr b="1" dirty="0">
                <a:solidFill>
                  <a:srgbClr val="0B1F3A"/>
                </a:solidFill>
                <a:latin typeface="Calibri"/>
              </a:rPr>
              <a:t>shows</a:t>
            </a:r>
            <a:r>
              <a:rPr lang="en-GB" b="1" dirty="0">
                <a:solidFill>
                  <a:srgbClr val="0B1F3A"/>
                </a:solidFill>
                <a:latin typeface="Calibri"/>
              </a:rPr>
              <a:t> ?</a:t>
            </a:r>
            <a:endParaRPr b="1" dirty="0">
              <a:solidFill>
                <a:srgbClr val="0B1F3A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49440" y="1600200"/>
            <a:ext cx="4617720" cy="2351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•  BTC–ETH correlation ≈ 0.926 (very high).</a:t>
            </a:r>
          </a:p>
          <a:p>
            <a:pPr>
              <a:spcBef>
                <a:spcPts val="5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•  BTC–LTC ≈ 0.62; ETH–LTC ≈ 0.59.</a:t>
            </a:r>
          </a:p>
          <a:p>
            <a:pPr>
              <a:spcBef>
                <a:spcPts val="5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•  Litecoin is more independent.</a:t>
            </a:r>
          </a:p>
          <a:p>
            <a:pPr>
              <a:spcBef>
                <a:spcPts val="500"/>
              </a:spcBef>
            </a:pPr>
            <a:endParaRPr b="0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5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•  EDA insight:</a:t>
            </a:r>
          </a:p>
          <a:p>
            <a:pPr>
              <a:spcBef>
                <a:spcPts val="5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•  Assets can move together, but HMRC still requires separate CGT per asset.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7A8C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EDA Plot — Trading Volume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ubric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88720"/>
            <a:ext cx="7498079" cy="281516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55279" y="1097280"/>
            <a:ext cx="3840480" cy="4937760"/>
          </a:xfrm>
          <a:prstGeom prst="roundRect">
            <a:avLst/>
          </a:prstGeom>
          <a:solidFill>
            <a:srgbClr val="E6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59" y="1234440"/>
            <a:ext cx="3520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B1F3A"/>
                </a:solidFill>
                <a:latin typeface="Calibri"/>
              </a:rPr>
              <a:t>What this shows</a:t>
            </a:r>
            <a:r>
              <a:rPr lang="en-GB" b="1" dirty="0">
                <a:solidFill>
                  <a:srgbClr val="0B1F3A"/>
                </a:solidFill>
                <a:latin typeface="Calibri"/>
              </a:rPr>
              <a:t> ?</a:t>
            </a:r>
            <a:endParaRPr b="1" dirty="0">
              <a:solidFill>
                <a:srgbClr val="0B1F3A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9" y="1600200"/>
            <a:ext cx="3520440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•  Volume spikes in 2021 and 2022.</a:t>
            </a:r>
          </a:p>
          <a:p>
            <a:pPr>
              <a:spcBef>
                <a:spcPts val="5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•  Higher volume ≈ denser trading activity.</a:t>
            </a:r>
          </a:p>
          <a:p>
            <a:pPr>
              <a:spcBef>
                <a:spcPts val="500"/>
              </a:spcBef>
            </a:pPr>
            <a:endParaRPr b="0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5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•  EDA insight:</a:t>
            </a:r>
          </a:p>
          <a:p>
            <a:pPr>
              <a:spcBef>
                <a:spcPts val="5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•  Peak activity periods are also peak taxable-disposal intensity.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B1F3A"/>
                </a:solidFill>
                <a:latin typeface="Calibri"/>
              </a:rPr>
              <a:t>Data Pre-processing</a:t>
            </a:r>
            <a:r>
              <a:rPr lang="en-GB" b="1" dirty="0">
                <a:solidFill>
                  <a:srgbClr val="0B1F3A"/>
                </a:solidFill>
                <a:latin typeface="Calibri"/>
              </a:rPr>
              <a:t> </a:t>
            </a:r>
            <a:r>
              <a:rPr b="1" dirty="0">
                <a:solidFill>
                  <a:srgbClr val="0B1F3A"/>
                </a:solidFill>
                <a:latin typeface="Calibri"/>
              </a:rPr>
              <a:t>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5A6A7A"/>
                </a:solidFill>
                <a:latin typeface="Calibri"/>
              </a:rPr>
              <a:t>Yes — systematic five-step cleaning before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71600"/>
            <a:ext cx="3703320" cy="21031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45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Datetime conversion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246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Date → datetime64; chronological sort/index.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703320" cy="21031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1645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Numeric coercion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286000"/>
            <a:ext cx="3246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ETH object/text prices → float (errors='coerce').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371600"/>
            <a:ext cx="3703320" cy="21031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16459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6916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Missing 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286000"/>
            <a:ext cx="3246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13 ETH null rows removed (end of sample).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703320"/>
            <a:ext cx="3703320" cy="21031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3977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Duplicates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17720"/>
            <a:ext cx="324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Checked; none found in any file.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703320"/>
            <a:ext cx="3703320" cy="21031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80" y="39776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Redundancy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617720"/>
            <a:ext cx="3246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ETH Adj Close dropped (equals Close).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3703320"/>
            <a:ext cx="3703320" cy="21031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0" y="3977640"/>
            <a:ext cx="6400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Analysis-ready sizes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617720"/>
            <a:ext cx="3246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BTC 2,250 • ETH 2,391 • LTC 2,404 rows.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Explain the Model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5A6A7A"/>
                </a:solidFill>
                <a:latin typeface="Calibri"/>
              </a:rPr>
              <a:t>Analytical / statistical model suite in Python (not a single black-box ML classifier)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417320"/>
            <a:ext cx="3703320" cy="2057400"/>
          </a:xfrm>
          <a:prstGeom prst="roundRect">
            <a:avLst/>
          </a:prstGeom>
          <a:solidFill>
            <a:srgbClr val="E6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69164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Descriptive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40280"/>
            <a:ext cx="3291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Mean, std, min/max, skew, kurtosis of closing prices.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17320"/>
            <a:ext cx="3703320" cy="20574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69164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D7A8C"/>
                </a:solidFill>
                <a:latin typeface="Calibri"/>
              </a:rPr>
              <a:t>Pearson correlation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40280"/>
            <a:ext cx="3291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Co-movement of BTC, ETH, LTC over overlapping days.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417320"/>
            <a:ext cx="3703320" cy="2057400"/>
          </a:xfrm>
          <a:prstGeom prst="roundRect">
            <a:avLst/>
          </a:prstGeom>
          <a:solidFill>
            <a:srgbClr val="E6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69164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Risk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240280"/>
            <a:ext cx="3291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Log returns → annualised volatility, Sharpe, max drawdown, VaR.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703320"/>
            <a:ext cx="3703320" cy="20574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97764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CGT simulation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26280"/>
            <a:ext cx="3291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Hypothetical UK holder; HMRC annual exempt amounts by tax year.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703320"/>
            <a:ext cx="3703320" cy="2057400"/>
          </a:xfrm>
          <a:prstGeom prst="roundRect">
            <a:avLst/>
          </a:prstGeom>
          <a:solidFill>
            <a:srgbClr val="E6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0" y="397764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Event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526280"/>
            <a:ext cx="3291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Price change ±30 days around FSMA 2023 and CGT cuts.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3703320"/>
            <a:ext cx="3703320" cy="20574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66760" y="3977640"/>
            <a:ext cx="3291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Trend model (SMA)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526280"/>
            <a:ext cx="32918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30-day and 90-day Simple Moving Averages on Bitcoin.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Why This Model Suite Suits the Problem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47120" cy="713232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234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Matches research 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216152"/>
            <a:ext cx="7589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RQ focuses on tax/accounting challenges driven by volatility and market behaviour — not price forecasting accuracy alone.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874520"/>
            <a:ext cx="11247120" cy="713232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057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Transparent &amp; auditable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039112"/>
            <a:ext cx="7589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Each step is explainable to finance/accounting audiences and markers (architecture is clear).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697480"/>
            <a:ext cx="11247120" cy="713232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Direct UK 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862072"/>
            <a:ext cx="7589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CGT simulation and event windows map to HMRC rules and FSMA 2023.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20440"/>
            <a:ext cx="11247120" cy="713232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703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Literature aligned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685032"/>
            <a:ext cx="7589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Uses methods consistent with crypto time-series work (e.g. volatility / SMA approaches in recent studies).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43400"/>
            <a:ext cx="11247120" cy="713232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Train / evaluate style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507992"/>
            <a:ext cx="7589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1A1A1A"/>
                </a:solidFill>
                <a:latin typeface="Calibri"/>
              </a:rPr>
              <a:t>Parameters fixed a priori, then evaluated on full cleaned sample with tables and plots.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166360"/>
            <a:ext cx="11247120" cy="713232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349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Diagram of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5330952"/>
            <a:ext cx="7589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CSV → clean → EDA → risk/CGT/SMA models → interpret against UK tax &amp; IFRS gaps.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8. Results of Model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D7A8C"/>
                </a:solidFill>
                <a:latin typeface="Calibri"/>
              </a:rPr>
              <a:t>Key quantitative outputs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7A8C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Results — Volatility &amp; Correlation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6583680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UH Project Presentation  |  Rubric Matrix  |  10–12 minutes</a:t>
            </a:r>
          </a:p>
        </p:txBody>
      </p:sp>
      <p:pic>
        <p:nvPicPr>
          <p:cNvPr id="8" name="Picture 7" descr="rubric_v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6949440" cy="3851001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051560"/>
            <a:ext cx="4297680" cy="5029200"/>
          </a:xfrm>
          <a:prstGeom prst="roundRect">
            <a:avLst/>
          </a:prstGeom>
          <a:solidFill>
            <a:srgbClr val="E6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59" y="1188720"/>
            <a:ext cx="3977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Calibri"/>
              </a:rPr>
              <a:t>Key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59" y="1554480"/>
            <a:ext cx="3977640" cy="37164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•  </a:t>
            </a:r>
            <a:r>
              <a:rPr b="0" dirty="0" err="1">
                <a:solidFill>
                  <a:srgbClr val="1A1A1A"/>
                </a:solidFill>
                <a:latin typeface="Calibri"/>
              </a:rPr>
              <a:t>Annualised</a:t>
            </a:r>
            <a:r>
              <a:rPr b="0" dirty="0">
                <a:solidFill>
                  <a:srgbClr val="1A1A1A"/>
                </a:solidFill>
                <a:latin typeface="Calibri"/>
              </a:rPr>
              <a:t> volatility:</a:t>
            </a:r>
          </a:p>
          <a:p>
            <a:pPr>
              <a:spcBef>
                <a:spcPts val="5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•  • Bitcoin 70.73%</a:t>
            </a:r>
          </a:p>
          <a:p>
            <a:pPr>
              <a:spcBef>
                <a:spcPts val="5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•  • Ethereum 88.67%</a:t>
            </a:r>
          </a:p>
          <a:p>
            <a:pPr>
              <a:spcBef>
                <a:spcPts val="5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•  • Litecoin 94.34%</a:t>
            </a:r>
          </a:p>
          <a:p>
            <a:pPr>
              <a:spcBef>
                <a:spcPts val="500"/>
              </a:spcBef>
            </a:pPr>
            <a:endParaRPr b="0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5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•  Correlation:</a:t>
            </a:r>
          </a:p>
          <a:p>
            <a:pPr>
              <a:spcBef>
                <a:spcPts val="5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•  • BTC–ETH r = 0.926</a:t>
            </a:r>
          </a:p>
          <a:p>
            <a:pPr>
              <a:spcBef>
                <a:spcPts val="5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•  • Supports high co-movement risk</a:t>
            </a:r>
          </a:p>
          <a:p>
            <a:pPr>
              <a:spcBef>
                <a:spcPts val="500"/>
              </a:spcBef>
            </a:pPr>
            <a:endParaRPr b="0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500"/>
              </a:spcBef>
            </a:pPr>
            <a:r>
              <a:rPr b="0" dirty="0">
                <a:solidFill>
                  <a:srgbClr val="1A1A1A"/>
                </a:solidFill>
                <a:latin typeface="Calibri"/>
              </a:rPr>
              <a:t>•  Implication: IAS 38-style fair value is unstable in practice.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7A8C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Results — SMA Trend &amp; CGT Inputs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ubric_s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132320" cy="2815164"/>
          </a:xfrm>
          <a:prstGeom prst="rect">
            <a:avLst/>
          </a:prstGeom>
        </p:spPr>
      </p:pic>
      <p:pic>
        <p:nvPicPr>
          <p:cNvPr id="9" name="Picture 8" descr="rubric_cg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960120"/>
            <a:ext cx="4297680" cy="23669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2120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SMA result: bullish Bitcoin crossover from October 2023.  |  CGT result: exemption fall £12,300 → £3,000 raises taxable base in the simulation.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6400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8C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Hyperparameter Tuning / Parameter Optimisation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1097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6A7A"/>
                </a:solidFill>
                <a:latin typeface="Calibri"/>
              </a:rPr>
              <a:t>Parameters were selected and justified (not left as defaults without reason)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25880"/>
            <a:ext cx="11338560" cy="6858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640080" y="1490472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8C"/>
                </a:solidFill>
                <a:latin typeface="Calibri"/>
              </a:rPr>
              <a:t>SMA windows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490472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30-day &amp; 90-day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463040"/>
            <a:ext cx="5486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Short vs medium trend; standard in market analysis; detects Oct 2023 crossover.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03120"/>
            <a:ext cx="11338560" cy="6858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640080" y="2267712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8C"/>
                </a:solidFill>
                <a:latin typeface="Calibri"/>
              </a:rPr>
              <a:t>Volatility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267712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30-day rolling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224028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Balances responsiveness vs noise for annualised volatility.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880360"/>
            <a:ext cx="11338560" cy="6858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640080" y="3044952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8C"/>
                </a:solidFill>
                <a:latin typeface="Calibri"/>
              </a:rPr>
              <a:t>Event window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044952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±30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017520"/>
            <a:ext cx="5486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1A1A1A"/>
                </a:solidFill>
                <a:latin typeface="Calibri"/>
              </a:rPr>
              <a:t>Captures short-run market reaction to FSMA / CGT policy events.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657600"/>
            <a:ext cx="11338560" cy="6858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640080" y="3822192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8C"/>
                </a:solidFill>
                <a:latin typeface="Calibri"/>
              </a:rPr>
              <a:t>CGT parameters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822192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HMRC yearly exempt 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379476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Used official amounts: £12,300 / £6,000 / £3,000 by tax year.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434840"/>
            <a:ext cx="11338560" cy="6858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6" name="TextBox 25"/>
          <p:cNvSpPr txBox="1"/>
          <p:nvPr/>
        </p:nvSpPr>
        <p:spPr>
          <a:xfrm>
            <a:off x="640080" y="4599432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8C"/>
                </a:solidFill>
                <a:latin typeface="Calibri"/>
              </a:rPr>
              <a:t>Correlation sample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599432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2,250 overlap days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57200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Only common dates — avoids mismatched series bias.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212080"/>
            <a:ext cx="11338560" cy="68580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0" name="TextBox 29"/>
          <p:cNvSpPr txBox="1"/>
          <p:nvPr/>
        </p:nvSpPr>
        <p:spPr>
          <a:xfrm>
            <a:off x="640080" y="5376672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A8C"/>
                </a:solidFill>
                <a:latin typeface="Calibri"/>
              </a:rPr>
              <a:t>Return transform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5376672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Calibri"/>
              </a:rPr>
              <a:t>Log returns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5349240"/>
            <a:ext cx="5486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Stabilises relative price changes for risk metrics.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Interpretation of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051560"/>
            <a:ext cx="11247120" cy="82296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For accounting (RQ1)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23444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High volatility and skewed prices explain why crypto fair-value reporting under IFRS remains inconsistent and audit-risky.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11247120" cy="82296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For taxation (RQ2)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9456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Volume spikes + lower CGT exemption mean more taxable events and harder compliance — self-reporting is stressed.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71800"/>
            <a:ext cx="11247120" cy="82296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For legislation (RQ3)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15468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Market scale and BTC–ETH co-movement show why FSMA 2023 alone is incomplete; CRAO/CARF will matter.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31920"/>
            <a:ext cx="11247120" cy="82296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For practice (RQ4)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11480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Risks are real (volatility, enforcement gaps), but opportunities exist in advisory, tooling, and clearer standards.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892040"/>
            <a:ext cx="11247120" cy="82296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Advantage vs disadvantage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5074920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Efficiency/inclusion gains exist, yet 94.34% max annualised volatility and CGT attribution problems are material disadvantages.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D7A8C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>
                <a:solidFill>
                  <a:srgbClr val="0B1F3A"/>
                </a:solidFill>
                <a:latin typeface="Calibri"/>
              </a:rPr>
              <a:t>Summary &amp; 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1097280"/>
            <a:ext cx="11247120" cy="82296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109728" cy="822960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298448"/>
            <a:ext cx="10607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Digital currency creates measurable pressure on UK finance and accounting through volatility, co-movement and tax complexity.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57400"/>
            <a:ext cx="11247120" cy="82296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057400"/>
            <a:ext cx="109728" cy="822960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258568"/>
            <a:ext cx="10607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Dataset of 7,058 raw daily rows (BTC/ETH/LTC) was cleaned ethically from public CC BY 4.0 sources.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17520"/>
            <a:ext cx="11247120" cy="82296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017520"/>
            <a:ext cx="109728" cy="822960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218688"/>
            <a:ext cx="10607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Models (risk metrics, correlation, CGT simulation, SMA, event windows) were suitable, parameterised and evaluated with plots/tables.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77640"/>
            <a:ext cx="11247120" cy="82296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977640"/>
            <a:ext cx="109728" cy="822960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178808"/>
            <a:ext cx="10607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Results: volatility up to 94.34%; BTC–ETH r≈0.93; CGT exemption cut sharply increases taxable exposure.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937760"/>
            <a:ext cx="11247120" cy="82296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4937760"/>
            <a:ext cx="109728" cy="822960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5138928"/>
            <a:ext cx="10607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1A1A1A"/>
                </a:solidFill>
                <a:latin typeface="Calibri"/>
              </a:rPr>
              <a:t>Conclusion: clearer IFRS guidance, stronger HMRC/CARF data flows, and professional tooling are needed as CRAO approaches 2027.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7A8C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1F3A"/>
                </a:solidFill>
                <a:latin typeface="Calibri"/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11155680" cy="77724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48132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1. Luo, M. and Yu, S. (2024). Financial reporting for cryptocurrency. Review of Accounting Studies, 29(2), pp.1707–1740.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94560"/>
            <a:ext cx="11155680" cy="77724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39572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2. Baer, K., De Mooij, R., Hebous, S. and Keen, M. (2023). Taxing cryptocurrencies. Oxford Review of Economic Policy, 39(3), pp.478–497.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77724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331012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3. FCA (2024). Research Note: Cryptoassets Consumer Research 2024 (Wave 5). London: Financial Conduct Authority.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023360"/>
            <a:ext cx="11155680" cy="77724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22452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4. HMRC (2024). Self Assessment Tax Returns: Cryptoasset Reporting Requirements 2024/25. London: HM Revenue and Customs.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937760"/>
            <a:ext cx="11155680" cy="77724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513892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Calibri"/>
              </a:rPr>
              <a:t>5. Mahapatro, S. (2025). Cryptocurrency Dataset. Version 2. Mendeley Data. Available at: https://doi.org/10.17632/5tv4bmrrf8.2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0D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D7A8C"/>
                </a:solidFill>
                <a:latin typeface="Calibri"/>
              </a:rPr>
              <a:t>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1619</Words>
  <Application>Microsoft Office PowerPoint</Application>
  <PresentationFormat>Widescreen</PresentationFormat>
  <Paragraphs>237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shirisha siri</dc:creator>
  <cp:keywords/>
  <dc:description>generated using python-pptx</dc:description>
  <cp:lastModifiedBy>shirisha siri</cp:lastModifiedBy>
  <cp:revision>2</cp:revision>
  <dcterms:created xsi:type="dcterms:W3CDTF">2013-01-27T09:14:16Z</dcterms:created>
  <dcterms:modified xsi:type="dcterms:W3CDTF">2026-07-15T00:24:34Z</dcterms:modified>
  <cp:category/>
</cp:coreProperties>
</file>